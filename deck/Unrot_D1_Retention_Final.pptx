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8989D"/>
                </a:solidFill>
                <a:latin typeface="Calibri"/>
              </a:rPr>
              <a:t>PRODUCT MANAGEMENT CASE STUDY  · 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UNROT</a:t>
            </a:r>
          </a:p>
          <a:p>
            <a:pPr algn="l"/>
            <a:r>
              <a:rPr sz="5400" b="1" i="0">
                <a:solidFill>
                  <a:srgbClr val="007AFF"/>
                </a:solidFill>
                <a:latin typeface="Calibri"/>
              </a:rPr>
              <a:t>D1 RETENTION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450592"/>
            <a:ext cx="2194560" cy="3175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98989D"/>
                </a:solidFill>
                <a:latin typeface="Calibri"/>
              </a:rPr>
              <a:t>“Designing the next reason to come back”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3383280" cy="14173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6616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CURRENT 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58768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7AFF"/>
                </a:solidFill>
                <a:latin typeface="Calibri"/>
              </a:rPr>
              <a:t>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36366"/>
                </a:solidFill>
                <a:latin typeface="Calibri"/>
              </a:rPr>
              <a:t>Assignment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383280"/>
            <a:ext cx="3383280" cy="14173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356616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858768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7AFF"/>
                </a:solidFill>
                <a:latin typeface="Calibri"/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434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36366"/>
                </a:solidFill>
                <a:latin typeface="Calibri"/>
              </a:rPr>
              <a:t>Assignment context — not achieved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3383280"/>
            <a:ext cx="3383280" cy="14173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356616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TIMEBOX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3858768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07AFF"/>
                </a:solidFill>
                <a:latin typeface="Calibri"/>
              </a:rPr>
              <a:t>4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4434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36366"/>
                </a:solidFill>
                <a:latin typeface="Calibri"/>
              </a:rPr>
              <a:t>1 Product Designer + 2 Engineers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29200"/>
            <a:ext cx="54864" cy="5486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017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PRODUCT THESIS: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“Tomorrow’s 5-Minute Mission” — make tomorrow’s value concrete before session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36366"/>
                </a:solidFill>
                <a:latin typeface="Calibri"/>
              </a:rPr>
              <a:t>Product hypothesis + interaction prototype + experiment plan  ·  D1 Pull package: C3 + C2 + C4 + C1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60196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Note: 22% is the assignment benchmark provided as context. It is not a measured result, guaranteed target, or observed industry figure.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" cy="14630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9319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01  /  PROBLEM &amp;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might Day 1 retention be breaking?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234440"/>
            <a:ext cx="1828800" cy="3175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8989D"/>
                </a:solidFill>
                <a:latin typeface="Calibri"/>
              </a:rPr>
              <a:t>THE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56232"/>
            <a:ext cx="5760720" cy="1051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007AFF"/>
                </a:solidFill>
                <a:latin typeface="Calibri"/>
              </a:rPr>
              <a:t>16%</a:t>
            </a:r>
          </a:p>
          <a:p>
            <a:pPr algn="l"/>
            <a:r>
              <a:rPr sz="1300" b="0" i="0">
                <a:solidFill>
                  <a:srgbClr val="98989D"/>
                </a:solidFill>
                <a:latin typeface="Calibri"/>
              </a:rPr>
              <a:t>current D1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47672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636366"/>
                </a:solidFill>
                <a:latin typeface="Calibri"/>
              </a:rPr>
              <a:t>↓</a:t>
            </a:r>
          </a:p>
          <a:p>
            <a:pPr algn="l"/>
            <a:r>
              <a:rPr sz="1200" b="0" i="1">
                <a:solidFill>
                  <a:srgbClr val="636366"/>
                </a:solidFill>
                <a:latin typeface="Calibri"/>
              </a:rPr>
              <a:t>target context</a:t>
            </a:r>
          </a:p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22%</a:t>
            </a:r>
          </a:p>
          <a:p>
            <a:pPr algn="l"/>
            <a:r>
              <a:rPr sz="1200" b="0" i="1">
                <a:solidFill>
                  <a:srgbClr val="636366"/>
                </a:solidFill>
                <a:latin typeface="Calibri"/>
              </a:rPr>
              <a:t>assignment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16% = assignment-provided baseline. 22% = assignment benchmark provided as context, not a measured or guaranteed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5760720" cy="1417320"/>
          </a:xfrm>
          <a:prstGeom prst="roundRect">
            <a:avLst/>
          </a:prstGeom>
          <a:solidFill>
            <a:srgbClr val="1A1A24"/>
          </a:solidFill>
          <a:ln w="15875">
            <a:solidFill>
              <a:srgbClr val="007AFF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73152" cy="14173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36976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WORKING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New users may complete a reasonable first session but leave without a concrete reason to return.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23360"/>
            <a:ext cx="54864" cy="3200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36366"/>
                </a:solidFill>
                <a:latin typeface="Calibri"/>
              </a:rPr>
              <a:t>Not yet validated by cohort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81728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THREE HYPOTHESIZED MISSING PULL SIGNALS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974336"/>
            <a:ext cx="219456" cy="219456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95604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explicit next action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User finishes session without seeing what to do next — no open loop.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5358384"/>
            <a:ext cx="219456" cy="219456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340096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Weak early progress signal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Streak and progress feel too new to matter on Day 1.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5742432"/>
            <a:ext cx="219456" cy="219456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724144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 strong D1 return cue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No well-timed external prompt brings the user 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508760"/>
            <a:ext cx="5212080" cy="47091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16459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WHAT WE DON’T KNOW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9202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36366"/>
                </a:solidFill>
                <a:latin typeface="Calibri"/>
              </a:rPr>
              <a:t>These are unknowns — not findings. They frame what Week 0 must resolve.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2331720"/>
            <a:ext cx="128016" cy="128016"/>
          </a:xfrm>
          <a:prstGeom prst="round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295144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First-session funnel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How many new users reach first value at all? Where is the biggest drop-off?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990088"/>
            <a:ext cx="128016" cy="128016"/>
          </a:xfrm>
          <a:prstGeom prst="round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953512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D1 by entry path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Does D1 differ by first action — lesson vs news vs interview prep vs browse-only?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3648456"/>
            <a:ext cx="128016" cy="128016"/>
          </a:xfrm>
          <a:prstGeom prst="round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611880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Notification exposure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Are new users receiving any Day 1 prompt? What is the opt-in rate?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4306824"/>
            <a:ext cx="128016" cy="128016"/>
          </a:xfrm>
          <a:prstGeom prst="round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270248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Segment-level retention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By acquisition source, device, intent — is 16% uniform or dragged by a segment?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4965192"/>
            <a:ext cx="128016" cy="128016"/>
          </a:xfrm>
          <a:prstGeom prst="round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4928616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Diagnostics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Crash rate on first session, onboarding completion, session definition, timezone handling.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Source: research/problem-framing.md, research/product-teardown.md, research/measurement-model.md. Classifications: HYPOTHESIS / UNKNOWN.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" cy="14630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9319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02  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TOMORROW’S 5-MINUTE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234440"/>
            <a:ext cx="2377440" cy="3175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8989D"/>
                </a:solidFill>
                <a:latin typeface="Calibri"/>
              </a:rPr>
              <a:t>THE EXPERIENCE — FROM TODAY TO DAY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6583680" cy="384048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5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TODAY — FIRST 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6583680" cy="621792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New user completes
first lesson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648456" y="2953512"/>
            <a:ext cx="201168" cy="310896"/>
          </a:xfrm>
          <a:prstGeom prst="down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6583680" cy="621792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27832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Sees tomorrow’s
5-minute mission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648456" y="3776472"/>
            <a:ext cx="201168" cy="310896"/>
          </a:xfrm>
          <a:prstGeom prst="downArrow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977640"/>
            <a:ext cx="6583680" cy="621792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50792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Optionally schedules
a reminder (C3)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648456" y="4846320"/>
            <a:ext cx="201168" cy="310896"/>
          </a:xfrm>
          <a:prstGeom prst="downArrow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6217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36366"/>
                </a:solidFill>
                <a:latin typeface="Calibri"/>
              </a:rPr>
              <a:t>next calendar 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6583680" cy="384048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5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C759"/>
                </a:solidFill>
                <a:latin typeface="Calibri"/>
              </a:rPr>
              <a:t>DAY 1 — RETURN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89320"/>
            <a:ext cx="6583680" cy="512064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044184"/>
            <a:ext cx="6126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Receives D1 return cue
(C1 notification)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648456" y="6501384"/>
            <a:ext cx="201168" cy="310896"/>
          </a:xfrm>
          <a:prstGeom prst="downArrow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6611112"/>
            <a:ext cx="6583680" cy="512064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665976"/>
            <a:ext cx="6126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Opens directly into
next mission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3648456" y="7123176"/>
            <a:ext cx="201168" cy="310896"/>
          </a:xfrm>
          <a:prstGeom prst="downArrow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7232904"/>
            <a:ext cx="6583680" cy="512064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7287768"/>
            <a:ext cx="6126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Continues the habit
(streak =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46304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8989D"/>
                </a:solidFill>
                <a:latin typeface="Calibri"/>
              </a:rPr>
              <a:t>FOUR COORDINATED COMPONENTS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1783080"/>
            <a:ext cx="4434840" cy="9601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1783080"/>
            <a:ext cx="73152" cy="9601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98080" y="1929384"/>
            <a:ext cx="548640" cy="310896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19613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192938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Reminder / opt-in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2286000"/>
            <a:ext cx="3977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Optimized notification permission prompt during onboarding. Enabler — raises the addressable population for C1.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2862072"/>
            <a:ext cx="4434840" cy="9601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2862072"/>
            <a:ext cx="73152" cy="960120"/>
          </a:xfrm>
          <a:prstGeom prst="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80" y="3008376"/>
            <a:ext cx="548640" cy="310896"/>
          </a:xfrm>
          <a:prstGeom prst="round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30403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300837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Next-step 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3364992"/>
            <a:ext cx="3977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End-of-first-session screen shows tomorrow’s concrete 5-minute mission — an internal open loop at the moment of exit.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3941064"/>
            <a:ext cx="4434840" cy="9601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3941064"/>
            <a:ext cx="73152" cy="9601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98080" y="4087368"/>
            <a:ext cx="548640" cy="310896"/>
          </a:xfrm>
          <a:prstGeom prst="round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0" y="41193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408736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Streak / progress framing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4443984"/>
            <a:ext cx="3977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“Your streak starts today” — makes the 1-day streak feel like something to protect, not just a number.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0" y="5020056"/>
            <a:ext cx="4434840" cy="9601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0" y="5020056"/>
            <a:ext cx="73152" cy="96012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98080" y="5166360"/>
            <a:ext cx="548640" cy="310896"/>
          </a:xfrm>
          <a:prstGeom prst="round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0" y="51983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80" y="51663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D1 notification / deep link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5522976"/>
            <a:ext cx="3977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Day 1 push: “Your daily AI lesson is ready” with a deep link to today’s content. The external D1 trigger.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6190488"/>
            <a:ext cx="4434840" cy="566928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0" y="626364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Hypothesis being tested: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Making tomorrow’s value concrete before session end increases D1 return.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Package: C3 + C2 + C4 + C1. These are coordinated, not standalone. Source: research/interventions.md, research/prd.md.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" cy="14630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9319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03  / 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From hypothesis to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234440"/>
            <a:ext cx="2103120" cy="3175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295" cy="384048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INTERACTION PROTOTYPE — NOT PRODUCTION</a:t>
            </a:r>
            <a:r>
              <a:rPr sz="1100" b="0" i="0">
                <a:solidFill>
                  <a:srgbClr val="98989D"/>
                </a:solidFill>
                <a:latin typeface="Calibri"/>
              </a:rPr>
              <a:t>     ·     Simulates analytics events locally in-browser.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697480" cy="23317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2697480" cy="54864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2148840"/>
            <a:ext cx="274320" cy="274320"/>
          </a:xfrm>
          <a:prstGeom prst="ellipse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6712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Onboarding / reminder choice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770632"/>
            <a:ext cx="236829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“Stay ahead, automatically”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Toggle: daily lesson reminders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75304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Value-forward opt-in prompt (C3)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0984" y="1965960"/>
            <a:ext cx="2697480" cy="23317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00984" y="1965960"/>
            <a:ext cx="2697480" cy="54864"/>
          </a:xfrm>
          <a:prstGeom prst="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65576" y="2148840"/>
            <a:ext cx="274320" cy="274320"/>
          </a:xfrm>
          <a:prstGeom prst="ellipse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16712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Lesson experience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65576" y="2770632"/>
            <a:ext cx="236829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3864" y="2880360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Today’s concept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3227832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Start → read → mark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3575304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Progress bar + completion signal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1965960"/>
            <a:ext cx="2697480" cy="23317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1965960"/>
            <a:ext cx="2697480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9360" y="2148840"/>
            <a:ext cx="274320" cy="274320"/>
          </a:xfrm>
          <a:prstGeom prst="ellipse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216712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End-of-session next mission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770632"/>
            <a:ext cx="236829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880360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“Lesson complete!”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227832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Streak: 1 day — “Don’t let it go cold”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575304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“Tomorrow’s concept is ready” → next lesson card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2" y="1965960"/>
            <a:ext cx="2697480" cy="23317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88552" y="1965960"/>
            <a:ext cx="2697480" cy="54864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53144" y="2148840"/>
            <a:ext cx="274320" cy="274320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1472" y="2167128"/>
            <a:ext cx="2057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D1 return / notification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53144" y="2770632"/>
            <a:ext cx="236829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1432" y="2880360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“Your daily AI lesson is ready”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3227832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Tap → deep-link to today’s content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2" y="3575304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Streak: 2 days — “Keep it alive”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434840"/>
            <a:ext cx="11277295" cy="141732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5252E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434840"/>
            <a:ext cx="73152" cy="14173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52628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KEY INTERVENTION SCREEN — END OF FIRST SESSION (C2 + C4)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818888"/>
            <a:ext cx="3520440" cy="9144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910328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8989D"/>
                </a:solidFill>
                <a:latin typeface="Calibri"/>
              </a:rPr>
              <a:t>STREAK FRAME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16636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9500"/>
                </a:solidFill>
                <a:latin typeface="Calibri"/>
              </a:rPr>
              <a:t>🔥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 day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4818888"/>
            <a:ext cx="3520440" cy="9144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4910328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8989D"/>
                </a:solidFill>
                <a:latin typeface="Calibri"/>
              </a:rPr>
              <a:t>STREAK MESSAGE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5138928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Don’t let your streak go cold.</a:t>
            </a:r>
          </a:p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Come back tomorrow to keep it alive.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92440" y="4818888"/>
            <a:ext cx="3520440" cy="9144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4910328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8989D"/>
                </a:solidFill>
                <a:latin typeface="Calibri"/>
              </a:rPr>
              <a:t>NEXT-STEP CUE (C2)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138928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→ Tomorrow’s concept is ready</a:t>
            </a:r>
          </a:p>
          <a:p>
            <a:pPr algn="l"/>
            <a:r>
              <a:rPr sz="1000" b="0" i="1">
                <a:solidFill>
                  <a:srgbClr val="98989D"/>
                </a:solidFill>
                <a:latin typeface="Calibri"/>
              </a:rPr>
              <a:t>Next lesson card preview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94360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Source: prototype/index.html — 4 screen states demonstrated. This is an interaction prototype, not a production build.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989320"/>
            <a:ext cx="11277295" cy="3657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044184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8989D"/>
                </a:solidFill>
                <a:latin typeface="Calibri"/>
              </a:rPr>
              <a:t>SIMULATED ANALYTICS EVENTS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6062472"/>
            <a:ext cx="1378915" cy="219456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6094476"/>
            <a:ext cx="13789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AFF"/>
                </a:solidFill>
                <a:latin typeface="Calibri"/>
              </a:rPr>
              <a:t>lesson_completed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43429" y="6062472"/>
            <a:ext cx="976579" cy="219456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43429" y="6094476"/>
            <a:ext cx="9765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AFF"/>
                </a:solidFill>
                <a:latin typeface="Calibri"/>
              </a:rPr>
              <a:t>session_end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46778" y="6062472"/>
            <a:ext cx="1861718" cy="219456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46778" y="6094476"/>
            <a:ext cx="186171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AFF"/>
                </a:solidFill>
                <a:latin typeface="Calibri"/>
              </a:rPr>
              <a:t>notification_scheduled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50127" y="6062472"/>
            <a:ext cx="1459382" cy="219456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50127" y="6094476"/>
            <a:ext cx="145938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AFF"/>
                </a:solidFill>
                <a:latin typeface="Calibri"/>
              </a:rPr>
              <a:t>notification_sent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853476" y="6062472"/>
            <a:ext cx="1620316" cy="219456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53476" y="6094476"/>
            <a:ext cx="16203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AFF"/>
                </a:solidFill>
                <a:latin typeface="Calibri"/>
              </a:rPr>
              <a:t>notification_opened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56825" y="6062472"/>
            <a:ext cx="1378915" cy="219456"/>
          </a:xfrm>
          <a:prstGeom prst="roundRect">
            <a:avLst/>
          </a:prstGeom>
          <a:solidFill>
            <a:srgbClr val="1A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56825" y="6094476"/>
            <a:ext cx="13789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AFF"/>
                </a:solidFill>
                <a:latin typeface="Calibri"/>
              </a:rPr>
              <a:t>session_start_d1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FF6B6B"/>
                </a:solidFill>
                <a:latin typeface="Calibri"/>
              </a:rPr>
              <a:t>CRITICAL: Browser runtime validation: BLOCKED / NOT EXECUTED in this environment. Prototype events are simulated and are NOT measured retention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" cy="14630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9319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04  /  MEASUREMENT &amp;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we’d know whether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234440"/>
            <a:ext cx="2286000" cy="3175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77295" cy="658368"/>
          </a:xfrm>
          <a:prstGeom prst="roundRect">
            <a:avLst/>
          </a:prstGeom>
          <a:solidFill>
            <a:srgbClr val="1A1A24"/>
          </a:solidFill>
          <a:ln w="15875">
            <a:solidFill>
              <a:srgbClr val="007AFF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PRIMARY METRIC</a:t>
            </a:r>
          </a:p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D1 RETENTION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609344"/>
            <a:ext cx="36576" cy="3657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59105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Calibri"/>
              </a:rPr>
              <a:t>Day-1 return rate: % of new users who complete a session on Day 0 and return for any session on the next calendar day.</a:t>
            </a:r>
          </a:p>
          <a:p>
            <a:pPr algn="l"/>
            <a:r>
              <a:rPr sz="1100" b="0" i="1">
                <a:solidFill>
                  <a:srgbClr val="636366"/>
                </a:solidFill>
                <a:latin typeface="Calibri"/>
              </a:rPr>
              <a:t>Measured by weekly cohort. Baseline range TBD in Week 0 — not just the 16%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8989D"/>
                </a:solidFill>
                <a:latin typeface="Calibri"/>
              </a:rPr>
              <a:t>MEASUREMENT FUNNEL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1481328" cy="658368"/>
          </a:xfrm>
          <a:prstGeom prst="roundRect">
            <a:avLst/>
          </a:prstGeom>
          <a:solidFill>
            <a:srgbClr val="12121A"/>
          </a:solidFill>
          <a:ln w="15875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481328" cy="457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New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0779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36366"/>
                </a:solidFill>
                <a:latin typeface="Calibri"/>
              </a:rPr>
              <a:t>Day-0 cohort entry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2560320"/>
            <a:ext cx="1481328" cy="658368"/>
          </a:xfrm>
          <a:prstGeom prst="roundRect">
            <a:avLst/>
          </a:prstGeom>
          <a:solidFill>
            <a:srgbClr val="12121A"/>
          </a:solidFill>
          <a:ln w="15875">
            <a:solidFill>
              <a:srgbClr val="585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2560320"/>
            <a:ext cx="1481328" cy="45720"/>
          </a:xfrm>
          <a:prstGeom prst="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6334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First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90779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36366"/>
                </a:solidFill>
                <a:latin typeface="Calibri"/>
              </a:rPr>
              <a:t>Lesson / news / interview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560320"/>
            <a:ext cx="1481328" cy="658368"/>
          </a:xfrm>
          <a:prstGeom prst="roundRect">
            <a:avLst/>
          </a:prstGeom>
          <a:solidFill>
            <a:srgbClr val="12121A"/>
          </a:solidFill>
          <a:ln w="15875">
            <a:solidFill>
              <a:srgbClr val="585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2560320"/>
            <a:ext cx="1481328" cy="45720"/>
          </a:xfrm>
          <a:prstGeom prst="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26334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Lesson completion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290779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36366"/>
                </a:solidFill>
                <a:latin typeface="Calibri"/>
              </a:rPr>
              <a:t>Completed state reached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2560320"/>
            <a:ext cx="1481328" cy="658368"/>
          </a:xfrm>
          <a:prstGeom prst="roundRect">
            <a:avLst/>
          </a:prstGeom>
          <a:solidFill>
            <a:srgbClr val="12121A"/>
          </a:solidFill>
          <a:ln w="15875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57800" y="2560320"/>
            <a:ext cx="1481328" cy="457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6334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Session 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90779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36366"/>
                </a:solidFill>
                <a:latin typeface="Calibri"/>
              </a:rPr>
              <a:t>has_next_action_visible, streak, notif scheduled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560320"/>
            <a:ext cx="1481328" cy="658368"/>
          </a:xfrm>
          <a:prstGeom prst="roundRect">
            <a:avLst/>
          </a:prstGeom>
          <a:solidFill>
            <a:srgbClr val="12121A"/>
          </a:solidFill>
          <a:ln w="15875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560320"/>
            <a:ext cx="1481328" cy="457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6334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Notification scheduled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90779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36366"/>
                </a:solidFill>
                <a:latin typeface="Calibri"/>
              </a:rPr>
              <a:t>If opt-in granted (C1 enabler)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2560320"/>
            <a:ext cx="1481328" cy="658368"/>
          </a:xfrm>
          <a:prstGeom prst="roundRect">
            <a:avLst/>
          </a:prstGeom>
          <a:solidFill>
            <a:srgbClr val="12121A"/>
          </a:solidFill>
          <a:ln w="15875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58200" y="2560320"/>
            <a:ext cx="1481328" cy="457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6334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Notification opened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90779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36366"/>
                </a:solidFill>
                <a:latin typeface="Calibri"/>
              </a:rPr>
              <a:t>Deep-link tap on Day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2560320"/>
            <a:ext cx="1481328" cy="658368"/>
          </a:xfrm>
          <a:prstGeom prst="roundRect">
            <a:avLst/>
          </a:prstGeom>
          <a:solidFill>
            <a:srgbClr val="12121A"/>
          </a:solidFill>
          <a:ln w="1587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0" y="2560320"/>
            <a:ext cx="1481328" cy="4572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63347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Calibri"/>
              </a:rPr>
              <a:t>D1 session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907792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36366"/>
                </a:solidFill>
                <a:latin typeface="Calibri"/>
              </a:rPr>
              <a:t>session_start on Day 1 → D1 return counted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943100" y="2834640"/>
            <a:ext cx="310896" cy="201168"/>
          </a:xfrm>
          <a:prstGeom prst="rightArrow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3543300" y="2834640"/>
            <a:ext cx="310896" cy="201168"/>
          </a:xfrm>
          <a:prstGeom prst="rightArrow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5143500" y="2834640"/>
            <a:ext cx="310896" cy="201168"/>
          </a:xfrm>
          <a:prstGeom prst="rightArrow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6743700" y="2834640"/>
            <a:ext cx="310896" cy="201168"/>
          </a:xfrm>
          <a:prstGeom prst="rightArrow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8343900" y="2834640"/>
            <a:ext cx="310896" cy="201168"/>
          </a:xfrm>
          <a:prstGeom prst="rightArrow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9944100" y="2834640"/>
            <a:ext cx="310896" cy="201168"/>
          </a:xfrm>
          <a:prstGeom prst="rightArrow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8989D"/>
                </a:solidFill>
                <a:latin typeface="Calibri"/>
              </a:rPr>
              <a:t>SECONDARY / DIAGNOSTIC / GUARDRAILS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703320"/>
            <a:ext cx="3611880" cy="12344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703320"/>
            <a:ext cx="3611880" cy="457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79476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Calibri"/>
              </a:rPr>
              <a:t>SECONDARY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050792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First-session completion 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306824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Return-session quality (duration, value on D1)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51960" y="3703320"/>
            <a:ext cx="3611880" cy="12344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51960" y="3703320"/>
            <a:ext cx="3611880" cy="45720"/>
          </a:xfrm>
          <a:prstGeom prst="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0" y="379476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856D6"/>
                </a:solidFill>
                <a:latin typeface="Calibri"/>
              </a:rPr>
              <a:t>DIAGNOSTIC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4050792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Notification exposure / open 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4306824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Next-action visibility at session 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4562856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D1 by first action / entry path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0" y="3703320"/>
            <a:ext cx="3611880" cy="12344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46720" y="3703320"/>
            <a:ext cx="3611880" cy="457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83880" y="379476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Calibri"/>
              </a:rPr>
              <a:t>GUARDRAILS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3880" y="4050792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Notification opt-out / dismissal 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3880" y="4306824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Uninstall 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80" y="4562856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•  D7 retention (if volume allows)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029200"/>
            <a:ext cx="11277295" cy="868680"/>
          </a:xfrm>
          <a:prstGeom prst="roundRect">
            <a:avLst/>
          </a:prstGeom>
          <a:solidFill>
            <a:srgbClr val="1A1A24"/>
          </a:solidFill>
          <a:ln w="12700">
            <a:solidFill>
              <a:srgbClr val="25252E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EXPERIMENT DESIGN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394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36366"/>
                </a:solidFill>
                <a:latin typeface="Calibri"/>
              </a:rPr>
              <a:t>CONTROL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Current experience — no D1 Pull intervention.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720" y="5349240"/>
            <a:ext cx="731520" cy="201168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60720" y="5330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36366"/>
                </a:solidFill>
                <a:latin typeface="Calibri"/>
              </a:rPr>
              <a:t>VS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5120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C759"/>
                </a:solidFill>
                <a:latin typeface="Calibri"/>
              </a:rPr>
              <a:t>TREATMENT</a:t>
            </a:r>
          </a:p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D1 Pull package — C3 + C2 + C4 + C1.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565099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36366"/>
                </a:solidFill>
                <a:latin typeface="Calibri"/>
              </a:rPr>
              <a:t>Measure by weekly cohort. Segment every D1 read by first action / entry path / notification trigger.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Source: research/measurement-model.md, research/prd.md. No sample size or expected lift is stated — both are TBD from Week 0 cohort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" cy="14630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9319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05  /  ADVERSARIAL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could prove us wrong?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234440"/>
            <a:ext cx="2103120" cy="3175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8989D"/>
                </a:solidFill>
                <a:latin typeface="Calibri"/>
              </a:rPr>
              <a:t>FOUR COUNTER-DIAGNOSES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697480" cy="1965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697480" cy="54864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01952"/>
            <a:ext cx="2368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Calibri"/>
              </a:rPr>
              <a:t>ACTIVATION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31720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New users never reach first value — low first-session completion. A return cue can't help users who never got value. Fix: activation, not D1 pull.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3337560"/>
            <a:ext cx="236829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383280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36366"/>
                </a:solidFill>
                <a:latin typeface="Calibri"/>
              </a:rPr>
              <a:t>How we'd catch it:</a:t>
            </a:r>
          </a:p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Revealed by: first-value achievement rate (measurement model Stage 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1737360"/>
            <a:ext cx="2697480" cy="1965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0984" y="1737360"/>
            <a:ext cx="2697480" cy="54864"/>
          </a:xfrm>
          <a:prstGeom prst="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1901952"/>
            <a:ext cx="2368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56D6"/>
                </a:solidFill>
                <a:latin typeface="Calibri"/>
              </a:rPr>
              <a:t>AUDIENCE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331720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A large share of new users arrive from low-intent channels. The 16% reflects who is arriving, not what the product does. Fix: acquisition quality or onboarding qualification.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3337560"/>
            <a:ext cx="236829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5576" y="3383280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36366"/>
                </a:solidFill>
                <a:latin typeface="Calibri"/>
              </a:rPr>
              <a:t>How we'd catch it:</a:t>
            </a:r>
          </a:p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Revealed by: D1-by-source segmentation.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737360"/>
            <a:ext cx="2697480" cy="1965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37360"/>
            <a:ext cx="2697480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901952"/>
            <a:ext cx="2368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CONTENT / VALUE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31720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First-session content doesn't deliver value — wrong topic, too shallow, doesn't match the user's job. A notification brings them back to the same low-value experience.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337560"/>
            <a:ext cx="236829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383280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36366"/>
                </a:solidFill>
                <a:latin typeface="Calibri"/>
              </a:rPr>
              <a:t>How we'd catch it:</a:t>
            </a:r>
          </a:p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Revealed by: lesson completion rate, time-in-lesson, D1-by-first-action correlation.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8552" y="1737360"/>
            <a:ext cx="2697480" cy="1965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1737360"/>
            <a:ext cx="2697480" cy="54864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3144" y="1901952"/>
            <a:ext cx="2368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4C759"/>
                </a:solidFill>
                <a:latin typeface="Calibri"/>
              </a:rPr>
              <a:t>NOVELTY EFFECT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2331720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First sessions are inflated by novelty. The 84% who don't return are users whose only motive was “I installed something new.” No push creates a return reason for them.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53144" y="3337560"/>
            <a:ext cx="236829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4" y="3383280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36366"/>
                </a:solidFill>
                <a:latin typeface="Calibri"/>
              </a:rPr>
              <a:t>How we'd catch it:</a:t>
            </a:r>
          </a:p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Revealed by: D1 of high-intent cohort vs cold store traffic.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931920"/>
            <a:ext cx="11277295" cy="320040"/>
          </a:xfrm>
          <a:prstGeom prst="roundRect">
            <a:avLst/>
          </a:prstGeom>
          <a:solidFill>
            <a:srgbClr val="1C1008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9776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KILL / PIVOT SIGNALS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343400"/>
            <a:ext cx="5455767" cy="502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343400"/>
            <a:ext cx="54864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398264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✕  No D1 movement above baseline noise after predefined cohort reads (2+ cohorts).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5847" y="4343400"/>
            <a:ext cx="5455767" cy="502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95847" y="4343400"/>
            <a:ext cx="54864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3007" y="4398264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✕  Guardrail deterioration — opt-out/dismissal rise, uninstall rise, D7 drop.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19472"/>
            <a:ext cx="5455767" cy="502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19472"/>
            <a:ext cx="54864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974336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✕  Mechanism not supported by event data — e.g., D1 moves but notification-open-to-session conversion is near zero.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4919472"/>
            <a:ext cx="5455767" cy="502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5847" y="4919472"/>
            <a:ext cx="54864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3007" y="4974336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Calibri"/>
              </a:rPr>
              <a:t>✕  Week 0 assumptions fail — “today’s lesson” can't be resolved, notification infra insufficient, first-value rate too low.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532120"/>
            <a:ext cx="11277295" cy="566928"/>
          </a:xfrm>
          <a:prstGeom prst="roundRect">
            <a:avLst/>
          </a:prstGeom>
          <a:solidFill>
            <a:srgbClr val="1A1A24"/>
          </a:solidFill>
          <a:ln w="15875">
            <a:solidFill>
              <a:srgbClr val="007AFF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532120"/>
            <a:ext cx="73152" cy="566928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623560"/>
            <a:ext cx="1082009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A null result is useful: it tells us to stop optimizing the return cue and investigate the next retention mechanism.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Source: research/adversarial-review.md. This slide demonstrates that the PM is not emotionally attached to the proposed 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4864" cy="14630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9319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8989D"/>
                </a:solidFill>
                <a:latin typeface="Calibri"/>
              </a:rPr>
              <a:t>06  /  EXECUTION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 the smallest learning-rich bet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234440"/>
            <a:ext cx="2377440" cy="3175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98989D"/>
                </a:solidFill>
                <a:latin typeface="Calibri"/>
              </a:rPr>
              <a:t>4-WEEK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606040" cy="2011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606040" cy="54864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65376"/>
            <a:ext cx="22768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Calibri"/>
              </a:rPr>
              <a:t>WEEK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21408"/>
            <a:ext cx="22768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Validate assumptions
+ instrumentation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33472"/>
            <a:ext cx="227685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24912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Lock metric 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44368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Instrumentation audit (7 must-have events)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63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Crash-rate / onboarding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D1-by-first-action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02736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Establish baseline range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6976" y="1737360"/>
            <a:ext cx="2606040" cy="2011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36976" y="1737360"/>
            <a:ext cx="2606040" cy="54864"/>
          </a:xfrm>
          <a:prstGeom prst="rect">
            <a:avLst/>
          </a:prstGeom>
          <a:solidFill>
            <a:srgbClr val="585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1865376"/>
            <a:ext cx="22768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856D6"/>
                </a:solidFill>
                <a:latin typeface="Calibri"/>
              </a:rPr>
              <a:t>WEEK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121408"/>
            <a:ext cx="22768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Build end-of-session
mission + reminder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01568" y="2633472"/>
            <a:ext cx="227685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724912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Ship notification opt-in optimization (C3)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2944368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Build D1 notification (C1): copy, schedule, deep-link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3163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Begin end-of-session UI design (C2+C4)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16752" y="1737360"/>
            <a:ext cx="2606040" cy="2011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16752" y="1737360"/>
            <a:ext cx="2606040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1865376"/>
            <a:ext cx="22768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WEEK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2121408"/>
            <a:ext cx="22768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Integrate D1
return cue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1344" y="2633472"/>
            <a:ext cx="227685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2724912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Ship D1 notification (C1) if instrumentation 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2944368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Ship end-of-session UI + streak framing (C2+C4)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3163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Begin weekly cohort D1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96528" y="1737360"/>
            <a:ext cx="2606040" cy="2011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1C1C24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96528" y="1737360"/>
            <a:ext cx="2606040" cy="54864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1865376"/>
            <a:ext cx="227685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4C759"/>
                </a:solidFill>
                <a:latin typeface="Calibri"/>
              </a:rPr>
              <a:t>WEEK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2121408"/>
            <a:ext cx="22768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Launch + monitor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633472"/>
            <a:ext cx="2276856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9408" y="2724912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First full cohort reading on combined D1 Pull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9408" y="2944368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Segment D1 movement by trigger, first-value, source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3163824"/>
            <a:ext cx="2276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Calibri"/>
              </a:rPr>
              <a:t>•  Watch guardrails: D7, dismissals, uninstalls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02568" y="1737360"/>
            <a:ext cx="2779776" cy="2011680"/>
          </a:xfrm>
          <a:prstGeom prst="roundRect">
            <a:avLst/>
          </a:prstGeom>
          <a:solidFill>
            <a:srgbClr val="1A1A24"/>
          </a:solidFill>
          <a:ln w="15875">
            <a:solidFill>
              <a:srgbClr val="34C759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02568" y="1737360"/>
            <a:ext cx="2779776" cy="54864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67160" y="1865376"/>
            <a:ext cx="24505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4C759"/>
                </a:solidFill>
                <a:latin typeface="Calibri"/>
              </a:rPr>
              <a:t>WEEK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67160" y="2121408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Read cohort + decide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567160" y="2487168"/>
            <a:ext cx="2450592" cy="12700"/>
          </a:xfrm>
          <a:prstGeom prst="rect">
            <a:avLst/>
          </a:prstGeom>
          <a:solidFill>
            <a:srgbClr val="1C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567160" y="2606040"/>
            <a:ext cx="54864" cy="27432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676888" y="2606040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Calibri"/>
              </a:rPr>
              <a:t>SUCCESS:  </a:t>
            </a:r>
            <a:r>
              <a:rPr sz="1000" b="0" i="0">
                <a:solidFill>
                  <a:srgbClr val="98989D"/>
                </a:solidFill>
                <a:latin typeface="Calibri"/>
              </a:rPr>
              <a:t>D1 moves meaningfully above baseline range with guardrails held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567160" y="2953512"/>
            <a:ext cx="54864" cy="2743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76888" y="2953512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PROMISING:  </a:t>
            </a:r>
            <a:r>
              <a:rPr sz="1000" b="0" i="0">
                <a:solidFill>
                  <a:srgbClr val="98989D"/>
                </a:solidFill>
                <a:latin typeface="Calibri"/>
              </a:rPr>
              <a:t>Directional lift, mechanism partly confirmed → iterate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567160" y="3300984"/>
            <a:ext cx="54864" cy="274320"/>
          </a:xfrm>
          <a:prstGeom prst="rect">
            <a:avLst/>
          </a:prstGeom>
          <a:solidFill>
            <a:srgbClr val="636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676888" y="3300984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36366"/>
                </a:solidFill>
                <a:latin typeface="Calibri"/>
              </a:rPr>
              <a:t>NO IMPACT:  </a:t>
            </a:r>
            <a:r>
              <a:rPr sz="1000" b="0" i="0">
                <a:solidFill>
                  <a:srgbClr val="98989D"/>
                </a:solidFill>
                <a:latin typeface="Calibri"/>
              </a:rPr>
              <a:t>Within baseline noise + guardrails held → kill / pivot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886200"/>
            <a:ext cx="11277295" cy="868680"/>
          </a:xfrm>
          <a:prstGeom prst="roundRect">
            <a:avLst/>
          </a:prstGeom>
          <a:solidFill>
            <a:srgbClr val="1A1A24"/>
          </a:solidFill>
          <a:ln w="15875">
            <a:solidFill>
              <a:srgbClr val="007AFF"/>
            </a:solidFill>
          </a:ln>
          <a:effectLst/>
          <a:effectLst>
            <a:outerShdw blurRad="80000" dist="38100" dir="5400000" rotWithShape="0">
              <a:srgbClr val="1C1C2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886200"/>
            <a:ext cx="73152" cy="868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397764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Calibri"/>
              </a:rPr>
              <a:t>RECOMMENDATION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4215384"/>
            <a:ext cx="108200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Ship the D1 Pull experiment because it directly tests the leading retention hypothesis, fits the 4-week squad constraint, and produces meaningful learning even if D1 does not move.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36366"/>
                </a:solidFill>
                <a:latin typeface="Calibri"/>
              </a:rPr>
              <a:t>22% is the assignment benchmark; experiment success is defined by measured lift versus the established baseline with guardrails held — not by hitting 22%.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